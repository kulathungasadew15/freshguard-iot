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9" r:id="rId5"/>
    <p:sldId id="261" r:id="rId6"/>
    <p:sldId id="262" r:id="rId7"/>
    <p:sldId id="266" r:id="rId8"/>
    <p:sldId id="267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7085"/>
    <a:srgbClr val="6D727C"/>
    <a:srgbClr val="9299A8"/>
    <a:srgbClr val="9AA0AE"/>
    <a:srgbClr val="838B9C"/>
    <a:srgbClr val="009688"/>
    <a:srgbClr val="FFFFFF"/>
    <a:srgbClr val="72C6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7CAF2-0B66-4893-B76D-DC37341CEF4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191833-4DAA-428C-ACAD-D656A43D5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3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79" y="489379"/>
            <a:ext cx="1691639" cy="47531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IT1140 MINI PROJECT PROPOSAL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79" y="1225296"/>
            <a:ext cx="7498081" cy="8419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FreshGuard: IoT-Based Smart Fruit Bowl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77" y="2487168"/>
            <a:ext cx="10264544" cy="34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7D1DC"/>
                </a:solidFill>
              </a:rPr>
              <a:t>Freshness monitoring and automatic ventilation for household fruit storage using embedded sensing and Wi-Fi data visualization.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319272"/>
            <a:ext cx="7863840" cy="0"/>
          </a:xfrm>
          <a:prstGeom prst="line">
            <a:avLst/>
          </a:prstGeom>
          <a:noFill/>
          <a:ln w="10160">
            <a:solidFill>
              <a:srgbClr val="162A4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11480" y="3520439"/>
            <a:ext cx="1463040" cy="28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2728A"/>
                </a:solidFill>
              </a:rPr>
              <a:t>PROJECT TEAM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805505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Group 13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3520440"/>
            <a:ext cx="1463040" cy="283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2728A"/>
                </a:solidFill>
              </a:rPr>
              <a:t>TEAM LEADER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38496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KULATHUNGA M.A.S.S.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15248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2728A"/>
                </a:solidFill>
              </a:rPr>
              <a:t>ACADEMIC SECTOR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38496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SLIIT Year 1, Sem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3520440"/>
            <a:ext cx="15248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2728A"/>
                </a:solidFill>
              </a:rPr>
              <a:t>SUBMISSION DATE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53664" y="384930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27 JULY 2026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11480" y="6473952"/>
            <a:ext cx="457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" dirty="0">
                <a:solidFill>
                  <a:srgbClr val="62728A"/>
                </a:solidFill>
              </a:rPr>
              <a:t>SLIIT BSC (HONS) IN INFORMATION TECHNOLOGY • IT1140</a:t>
            </a:r>
            <a:endParaRPr lang="en-US" sz="46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3A1BE-1048-4426-9A14-F1F3C3D6D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468627"/>
            <a:ext cx="7870618" cy="12193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C85E682A-334C-402D-B8F6-7C953468A31D}"/>
              </a:ext>
            </a:extLst>
          </p:cNvPr>
          <p:cNvSpPr/>
          <p:nvPr/>
        </p:nvSpPr>
        <p:spPr>
          <a:xfrm>
            <a:off x="411480" y="4650438"/>
            <a:ext cx="1463040" cy="283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62728A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E20697-8A3A-4E47-BC01-6E42F16A4CE3}"/>
              </a:ext>
            </a:extLst>
          </p:cNvPr>
          <p:cNvSpPr txBox="1"/>
          <p:nvPr/>
        </p:nvSpPr>
        <p:spPr>
          <a:xfrm>
            <a:off x="344300" y="4974621"/>
            <a:ext cx="61022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VINOJA H.W.O , SUBHASHANA T.O , PERERA M.K.J.C , SITHUMINI W.T.I , DAMAYANTHA H.A.E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11480" y="3840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101928"/>
                </a:solidFill>
              </a:rPr>
              <a:t>The Household Fruit Storage Gap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87897" y="1010454"/>
            <a:ext cx="10850663" cy="4279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67085"/>
                </a:solidFill>
              </a:rPr>
              <a:t>Traditional fruit bowls are passive containers with no sensing, warning, storage, or environmental response.</a:t>
            </a:r>
            <a:endParaRPr lang="en-US" sz="1600" b="1" dirty="0"/>
          </a:p>
        </p:txBody>
      </p:sp>
      <p:sp>
        <p:nvSpPr>
          <p:cNvPr id="6" name="Shape 4"/>
          <p:cNvSpPr/>
          <p:nvPr/>
        </p:nvSpPr>
        <p:spPr>
          <a:xfrm>
            <a:off x="690113" y="2056188"/>
            <a:ext cx="3497839" cy="1770983"/>
          </a:xfrm>
          <a:prstGeom prst="roundRect">
            <a:avLst>
              <a:gd name="adj" fmla="val 5517"/>
            </a:avLst>
          </a:prstGeom>
          <a:solidFill>
            <a:srgbClr val="FAFBFC"/>
          </a:solidFill>
          <a:ln w="6350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90113" y="1931781"/>
            <a:ext cx="3497839" cy="45719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15568" y="2243745"/>
            <a:ext cx="2825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928"/>
                </a:solidFill>
              </a:rPr>
              <a:t>Delayed Spoilage Awareness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0266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Users usually notice spoilage only after visible colour change, unpleasant smell, softness, leakage, or mould appears. At that stage, quality loss has already occurred.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6851" y="2056187"/>
            <a:ext cx="3494962" cy="1770983"/>
          </a:xfrm>
          <a:prstGeom prst="roundRect">
            <a:avLst>
              <a:gd name="adj" fmla="val 5517"/>
            </a:avLst>
          </a:prstGeom>
          <a:solidFill>
            <a:srgbClr val="FAFBFC"/>
          </a:solidFill>
          <a:ln w="6350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97936" y="2243275"/>
            <a:ext cx="31830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1928"/>
                </a:solidFill>
              </a:rPr>
              <a:t>Uncontrolled Micro-Environment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2927" y="2644245"/>
            <a:ext cx="31380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Temperature, humidity, and volatile gas accumulation can accelerate ripening and deterioration inside a poorly ventilated storage area.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5451" y="2069341"/>
            <a:ext cx="3494962" cy="1757830"/>
          </a:xfrm>
          <a:prstGeom prst="roundRect">
            <a:avLst>
              <a:gd name="adj" fmla="val 5517"/>
            </a:avLst>
          </a:prstGeom>
          <a:solidFill>
            <a:srgbClr val="FAFBFC"/>
          </a:solidFill>
          <a:ln w="6350">
            <a:solidFill>
              <a:srgbClr val="DD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48472" y="2243745"/>
            <a:ext cx="2825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8"/>
                </a:solidFill>
              </a:rPr>
              <a:t>Household Waste Impact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43678" y="2598107"/>
            <a:ext cx="3235084" cy="122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</a:rPr>
              <a:t>Avoidable fruit spoilage causes direct economic loss and increases organic household waste when users cannot act early.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042733"/>
            <a:ext cx="10195560" cy="0"/>
          </a:xfrm>
          <a:prstGeom prst="line">
            <a:avLst/>
          </a:prstGeom>
          <a:noFill/>
          <a:ln w="762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02336" y="436882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1928"/>
                </a:solidFill>
              </a:rPr>
              <a:t>Core Problem Statement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1480" y="4804495"/>
            <a:ext cx="10515600" cy="76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01928"/>
                </a:solidFill>
              </a:rPr>
              <a:t>Current household fruit bowls cannot monitor storage conditions, identify persistent freshness-related changes, preserve historical records, alert users early, or </a:t>
            </a:r>
            <a:r>
              <a:rPr lang="en-US" sz="1600" b="1" dirty="0">
                <a:solidFill>
                  <a:srgbClr val="101928"/>
                </a:solidFill>
              </a:rPr>
              <a:t>automatically</a:t>
            </a:r>
            <a:r>
              <a:rPr lang="en-US" sz="1400" b="1" dirty="0">
                <a:solidFill>
                  <a:srgbClr val="101928"/>
                </a:solidFill>
              </a:rPr>
              <a:t> improve ventilation.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45602B-704E-78C2-79E7-4E989B6E0463}"/>
              </a:ext>
            </a:extLst>
          </p:cNvPr>
          <p:cNvSpPr/>
          <p:nvPr/>
        </p:nvSpPr>
        <p:spPr>
          <a:xfrm>
            <a:off x="411480" y="4671233"/>
            <a:ext cx="2377440" cy="45719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B434A2B5-C2CB-A609-0665-146151A2C83A}"/>
              </a:ext>
            </a:extLst>
          </p:cNvPr>
          <p:cNvSpPr/>
          <p:nvPr/>
        </p:nvSpPr>
        <p:spPr>
          <a:xfrm>
            <a:off x="4346927" y="1925546"/>
            <a:ext cx="3497839" cy="45719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BF384695-8006-D85A-ABA5-BB13A3767D82}"/>
              </a:ext>
            </a:extLst>
          </p:cNvPr>
          <p:cNvSpPr/>
          <p:nvPr/>
        </p:nvSpPr>
        <p:spPr>
          <a:xfrm>
            <a:off x="7992574" y="1919670"/>
            <a:ext cx="3497839" cy="45719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348727" y="233126"/>
            <a:ext cx="73982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000" b="1" dirty="0">
                <a:solidFill>
                  <a:srgbClr val="101928"/>
                </a:solidFill>
              </a:rPr>
              <a:t>Aim, Scope and 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8727" y="774709"/>
            <a:ext cx="827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0" dirty="0">
                <a:solidFill>
                  <a:srgbClr val="667085"/>
                </a:solidFill>
              </a:rPr>
              <a:t>Focused project direction and measurable outcomes for the </a:t>
            </a:r>
            <a:r>
              <a:rPr sz="1600" b="1" dirty="0" err="1">
                <a:solidFill>
                  <a:srgbClr val="667085"/>
                </a:solidFill>
              </a:rPr>
              <a:t>FreshGuard</a:t>
            </a:r>
            <a:r>
              <a:rPr sz="1600" b="0" dirty="0">
                <a:solidFill>
                  <a:srgbClr val="667085"/>
                </a:solidFill>
              </a:rPr>
              <a:t> prototype.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44574" y="1393836"/>
            <a:ext cx="10528705" cy="638080"/>
          </a:xfrm>
          <a:prstGeom prst="roundRect">
            <a:avLst>
              <a:gd name="adj" fmla="val 8421"/>
            </a:avLst>
          </a:prstGeom>
          <a:solidFill>
            <a:srgbClr val="E6F7F5"/>
          </a:solidFill>
          <a:ln w="12700">
            <a:solidFill>
              <a:srgbClr val="B9E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99709" y="1360432"/>
            <a:ext cx="129691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9688"/>
                </a:solidFill>
              </a:rPr>
              <a:t>AIM -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51755" y="1523483"/>
            <a:ext cx="920858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01928"/>
                </a:solidFill>
              </a:rPr>
              <a:t>Design and implement an IoT-based smart fruit bowl that monitors storage conditions, records data, alerts users, and automatically activates ventilation.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4162" y="3700069"/>
            <a:ext cx="868680" cy="283464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4162" y="3730044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Objective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48479" y="3697968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928"/>
                </a:solidFill>
              </a:rPr>
              <a:t>Acquire and test ESP32, DHT22, MQ-135, load cell, HX711, fan, indicators, and MicroSD hardware.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0388" y="3704911"/>
            <a:ext cx="853064" cy="209992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0025" y="3703144"/>
            <a:ext cx="868680" cy="19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Objective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84215" y="3667940"/>
            <a:ext cx="446362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lvl="1"/>
            <a:r>
              <a:rPr lang="en-US" sz="1400" dirty="0">
                <a:solidFill>
                  <a:srgbClr val="101928"/>
                </a:solidFill>
              </a:rPr>
              <a:t>Calibrate temperature, humidity, gas-baseline, and weight measurements under controlled conditions.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22866" y="4629826"/>
            <a:ext cx="868680" cy="283464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2866" y="468422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Objective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48479" y="4655629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928"/>
                </a:solidFill>
              </a:rPr>
              <a:t>Implement sensor filtering, moving averages, persistence timers, and fault handling.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8927" y="4684220"/>
            <a:ext cx="876015" cy="223126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03986" y="4638456"/>
            <a:ext cx="844719" cy="3127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009688"/>
                </a:solidFill>
              </a:rPr>
              <a:t>Objective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04692" y="4623882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928"/>
                </a:solidFill>
              </a:rPr>
              <a:t>Develop Fresh, Attention, and Possible Spoilage Detected state logic with configurable thresholds.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4438" y="5568993"/>
            <a:ext cx="828128" cy="275910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4438" y="5597606"/>
            <a:ext cx="868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Objective 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48479" y="5613290"/>
            <a:ext cx="4160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928"/>
                </a:solidFill>
              </a:rPr>
              <a:t>Create a Wi-Fi web dashboard for live readings, status, fan control, and historical records.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3986" y="5674740"/>
            <a:ext cx="880956" cy="197391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28749" y="5656273"/>
            <a:ext cx="856193" cy="20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Objective 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04692" y="5596170"/>
            <a:ext cx="4563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01928"/>
                </a:solidFill>
              </a:rPr>
              <a:t>Evaluate sensing, actuation, storage, IoT communication, and system recovery through repeatable tests.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ABBD81A-29E8-4794-AEB2-339864D2B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20" y="2431198"/>
            <a:ext cx="10588214" cy="6386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945C269-BCA2-44FC-89D4-931DD0AE3B32}"/>
              </a:ext>
            </a:extLst>
          </p:cNvPr>
          <p:cNvSpPr txBox="1"/>
          <p:nvPr/>
        </p:nvSpPr>
        <p:spPr>
          <a:xfrm>
            <a:off x="1087855" y="2396562"/>
            <a:ext cx="2343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9688"/>
                </a:solidFill>
              </a:rPr>
              <a:t>SCOPE -</a:t>
            </a:r>
            <a:endParaRPr lang="en-US" sz="4000" dirty="0">
              <a:solidFill>
                <a:srgbClr val="009688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03B1C2-9BF6-4C53-93E9-816A7F9B3A5B}"/>
              </a:ext>
            </a:extLst>
          </p:cNvPr>
          <p:cNvSpPr txBox="1"/>
          <p:nvPr/>
        </p:nvSpPr>
        <p:spPr>
          <a:xfrm>
            <a:off x="3431569" y="2521746"/>
            <a:ext cx="81032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01928"/>
                </a:solidFill>
              </a:rPr>
              <a:t>FreshGuard</a:t>
            </a:r>
            <a:r>
              <a:rPr lang="en-US" sz="1200" b="1" dirty="0">
                <a:solidFill>
                  <a:srgbClr val="101928"/>
                </a:solidFill>
              </a:rPr>
              <a:t> monitors fruit-storage conditions, provides early warnings, stores readings and automatically controls ventilation. It does not scientifically confirm whether fruit is safe to consume.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94645-501C-FCE5-15F2-C060A0DFF9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479" y="32004"/>
            <a:ext cx="12185521" cy="6858000"/>
          </a:xfrm>
          <a:prstGeom prst="rect">
            <a:avLst/>
          </a:prstGeom>
        </p:spPr>
      </p:pic>
      <p:sp>
        <p:nvSpPr>
          <p:cNvPr id="5" name="Shape 0">
            <a:extLst>
              <a:ext uri="{FF2B5EF4-FFF2-40B4-BE49-F238E27FC236}">
                <a16:creationId xmlns:a16="http://schemas.microsoft.com/office/drawing/2014/main" id="{994DB4C7-1647-04DE-C3CE-436D421CF054}"/>
              </a:ext>
            </a:extLst>
          </p:cNvPr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C18C6BA-C105-F1E4-1F4F-2BC6E6F88D25}"/>
              </a:ext>
            </a:extLst>
          </p:cNvPr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</p:spTree>
    <p:extLst>
      <p:ext uri="{BB962C8B-B14F-4D97-AF65-F5344CB8AC3E}">
        <p14:creationId xmlns:p14="http://schemas.microsoft.com/office/powerpoint/2010/main" val="52482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11479" y="196595"/>
            <a:ext cx="9480665" cy="8458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sz="3200" b="1" dirty="0">
                <a:solidFill>
                  <a:srgbClr val="101928"/>
                </a:solidFill>
              </a:rPr>
              <a:t>Sensors, Actuators, Memory and Main Components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886967"/>
            <a:ext cx="9582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 dirty="0">
                <a:solidFill>
                  <a:srgbClr val="667085"/>
                </a:solidFill>
              </a:rPr>
              <a:t>Main hardware choices grouped by sensing, actuation, indicators, data memory, and IoT control.</a:t>
            </a:r>
            <a:endParaRPr lang="en-US"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548640" y="1840843"/>
            <a:ext cx="3154680" cy="154588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48640" y="1677922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0076" y="1986263"/>
            <a:ext cx="1486112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Core Compute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6536" y="2475072"/>
            <a:ext cx="2698888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ESP32 </a:t>
            </a:r>
            <a:r>
              <a:rPr sz="1400" b="0" dirty="0" err="1">
                <a:solidFill>
                  <a:srgbClr val="667085"/>
                </a:solidFill>
              </a:rPr>
              <a:t>DevKit</a:t>
            </a:r>
            <a:r>
              <a:rPr sz="1400" b="0" dirty="0">
                <a:solidFill>
                  <a:srgbClr val="667085"/>
                </a:solidFill>
              </a:rPr>
              <a:t> V1
Processes readings, logic, logging and Wi-Fi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889158"/>
            <a:ext cx="3154680" cy="153509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286298" y="1721820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748" y="2002691"/>
            <a:ext cx="881780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Sensors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447329"/>
            <a:ext cx="3143877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DHT22: temperature/humidity
MQ-135: gas/VOC trend
Load Cell + HX711: weight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472" y="1878372"/>
            <a:ext cx="3154680" cy="154588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10470" y="1694388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2380" y="2026805"/>
            <a:ext cx="1030860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Actuators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4273" y="2447329"/>
            <a:ext cx="2659511" cy="68326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5V DC fan for ventilation
SG90 servo for automated cover
MOSFET for safe switching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6826" y="3786379"/>
            <a:ext cx="3154680" cy="154588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Rectangle 18"/>
          <p:cNvSpPr/>
          <p:nvPr/>
        </p:nvSpPr>
        <p:spPr>
          <a:xfrm>
            <a:off x="537925" y="3613290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54957" y="3901555"/>
            <a:ext cx="1241237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Local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775" y="4238539"/>
            <a:ext cx="2455880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RGB LED for status </a:t>
            </a:r>
            <a:r>
              <a:rPr sz="1400" b="0" dirty="0" err="1">
                <a:solidFill>
                  <a:srgbClr val="667085"/>
                </a:solidFill>
              </a:rPr>
              <a:t>colour</a:t>
            </a:r>
            <a:r>
              <a:rPr sz="1400" b="0" dirty="0">
                <a:solidFill>
                  <a:srgbClr val="667085"/>
                </a:solidFill>
              </a:rPr>
              <a:t>
Active buzzer for critical warning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86298" y="3797164"/>
            <a:ext cx="3154680" cy="15351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86298" y="3609535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21746" y="3901555"/>
            <a:ext cx="1431610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Memory &amp; IoT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9676" y="4248202"/>
            <a:ext cx="2705552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MicroSD module saves history
Wi-Fi dashboard shows live readings and controls.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472" y="3803192"/>
            <a:ext cx="3154680" cy="15290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8010472" y="3615010"/>
            <a:ext cx="315468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49377" y="3901554"/>
            <a:ext cx="1909305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Power &amp;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0199" y="4322591"/>
            <a:ext cx="2935223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5V adapter, breadboard, jumper wires and locally fabricated bowl/base.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5605272"/>
            <a:ext cx="9646920" cy="658368"/>
          </a:xfrm>
          <a:prstGeom prst="roundRect">
            <a:avLst/>
          </a:prstGeom>
          <a:solidFill>
            <a:srgbClr val="E6F7F5"/>
          </a:solidFill>
          <a:ln w="8890">
            <a:solidFill>
              <a:srgbClr val="B9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72386" y="5678506"/>
            <a:ext cx="9646921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101928"/>
                </a:solidFill>
              </a:rPr>
              <a:t>Estimated Electronics Total: Rs. </a:t>
            </a:r>
            <a:r>
              <a:rPr lang="en-US" sz="1400" b="1" dirty="0">
                <a:solidFill>
                  <a:srgbClr val="101928"/>
                </a:solidFill>
              </a:rPr>
              <a:t>8000</a:t>
            </a:r>
            <a:endParaRPr sz="1400" b="1" dirty="0">
              <a:solidFill>
                <a:srgbClr val="10192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28748" y="5912677"/>
            <a:ext cx="9646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Main modules, wiring and prototype power are included. 32GB MicroSD is optional.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392588" y="384048"/>
            <a:ext cx="82541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sz="3000" b="1" dirty="0">
                <a:solidFill>
                  <a:srgbClr val="101928"/>
                </a:solidFill>
              </a:rPr>
              <a:t>System Architecture and Physical Prototype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89412" y="835432"/>
            <a:ext cx="10021038" cy="4202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 dirty="0">
                <a:solidFill>
                  <a:srgbClr val="667085"/>
                </a:solidFill>
              </a:rPr>
              <a:t>How the sensing layer, ESP32 control unit, outputs, logging, dashboard and bowl layout fit together.</a:t>
            </a:r>
            <a:endParaRPr lang="en-US" sz="1600" b="1" dirty="0"/>
          </a:p>
        </p:txBody>
      </p:sp>
      <p:sp>
        <p:nvSpPr>
          <p:cNvPr id="6" name="Rounded Rectangle 5"/>
          <p:cNvSpPr/>
          <p:nvPr/>
        </p:nvSpPr>
        <p:spPr>
          <a:xfrm>
            <a:off x="389412" y="1409037"/>
            <a:ext cx="5756573" cy="5064915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82248" y="1630598"/>
            <a:ext cx="5149908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101928"/>
                </a:solidFill>
              </a:rPr>
              <a:t>System archite</a:t>
            </a:r>
            <a:r>
              <a:rPr lang="en-US" sz="2000" b="1" dirty="0">
                <a:solidFill>
                  <a:srgbClr val="101928"/>
                </a:solidFill>
              </a:rPr>
              <a:t>ct</a:t>
            </a:r>
            <a:r>
              <a:rPr sz="2000" b="1" dirty="0">
                <a:solidFill>
                  <a:srgbClr val="101928"/>
                </a:solidFill>
              </a:rPr>
              <a:t>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84176" y="1409038"/>
            <a:ext cx="5118412" cy="5064914"/>
          </a:xfrm>
          <a:prstGeom prst="roundRect">
            <a:avLst/>
          </a:prstGeom>
          <a:solidFill>
            <a:srgbClr val="F7FAFC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441884" y="1627849"/>
            <a:ext cx="3744917" cy="3447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2000" b="1" dirty="0">
                <a:solidFill>
                  <a:srgbClr val="101928"/>
                </a:solidFill>
              </a:rPr>
              <a:t>Physical prototype layout</a:t>
            </a:r>
          </a:p>
        </p:txBody>
      </p:sp>
      <p:cxnSp>
        <p:nvCxnSpPr>
          <p:cNvPr id="12" name="Connector 11"/>
          <p:cNvCxnSpPr>
            <a:cxnSpLocks/>
            <a:endCxn id="36" idx="1"/>
          </p:cNvCxnSpPr>
          <p:nvPr/>
        </p:nvCxnSpPr>
        <p:spPr>
          <a:xfrm>
            <a:off x="2269385" y="2681930"/>
            <a:ext cx="2506571" cy="1530332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endCxn id="33" idx="1"/>
          </p:cNvCxnSpPr>
          <p:nvPr/>
        </p:nvCxnSpPr>
        <p:spPr>
          <a:xfrm flipV="1">
            <a:off x="2368717" y="3457437"/>
            <a:ext cx="2383313" cy="13460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cxnSpLocks/>
            <a:endCxn id="30" idx="1"/>
          </p:cNvCxnSpPr>
          <p:nvPr/>
        </p:nvCxnSpPr>
        <p:spPr>
          <a:xfrm flipV="1">
            <a:off x="2270725" y="2717425"/>
            <a:ext cx="2427242" cy="1696624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30601" y="3043999"/>
            <a:ext cx="548640" cy="630936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>
            <a:off x="3411187" y="3640869"/>
            <a:ext cx="443262" cy="269098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370250" y="3222450"/>
            <a:ext cx="548640" cy="795528"/>
          </a:xfrm>
          <a:prstGeom prst="line">
            <a:avLst/>
          </a:prstGeom>
          <a:ln w="12700">
            <a:solidFill>
              <a:srgbClr val="DD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96000" y="2374715"/>
            <a:ext cx="16916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227435" y="2445478"/>
            <a:ext cx="559577" cy="22159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101928"/>
                </a:solidFill>
              </a:rPr>
              <a:t>DHT22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73" y="2650312"/>
            <a:ext cx="1381276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Temp + humidity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404" y="3187634"/>
            <a:ext cx="16916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083500" y="3237204"/>
            <a:ext cx="801952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101928"/>
                </a:solidFill>
              </a:rPr>
              <a:t>MQ-135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3" y="3465436"/>
            <a:ext cx="1298562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Gas/VOC trend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79" y="4001915"/>
            <a:ext cx="16916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87544" y="4076108"/>
            <a:ext cx="1403910" cy="22159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101928"/>
                </a:solidFill>
              </a:rPr>
              <a:t>Load Cell + HX711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279" y="4295822"/>
            <a:ext cx="1601105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Weight changes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39231" y="2998576"/>
            <a:ext cx="1691640" cy="1037416"/>
          </a:xfrm>
          <a:prstGeom prst="roundRect">
            <a:avLst/>
          </a:prstGeom>
          <a:solidFill>
            <a:srgbClr val="081327"/>
          </a:solidFill>
          <a:ln>
            <a:solidFill>
              <a:srgbClr val="0813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2832059" y="3120074"/>
            <a:ext cx="1519775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ESP32 </a:t>
            </a:r>
            <a:r>
              <a:rPr sz="1400" b="1" dirty="0" err="1">
                <a:solidFill>
                  <a:srgbClr val="FFFFFF"/>
                </a:solidFill>
              </a:rPr>
              <a:t>DevKit</a:t>
            </a:r>
            <a:r>
              <a:rPr sz="1400" b="1" dirty="0">
                <a:solidFill>
                  <a:srgbClr val="FFFFFF"/>
                </a:solidFill>
              </a:rPr>
              <a:t> 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87441" y="3379469"/>
            <a:ext cx="1642889" cy="59093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200" b="0" dirty="0">
                <a:solidFill>
                  <a:srgbClr val="D7E0E8"/>
                </a:solidFill>
              </a:rPr>
              <a:t>Filtering • State Logic
Wi-Fi • Logging •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7967" y="2441860"/>
            <a:ext cx="1190867" cy="55112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5104885" y="2461701"/>
            <a:ext cx="347980" cy="22159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1200" b="1" dirty="0">
                <a:solidFill>
                  <a:srgbClr val="101928"/>
                </a:solidFill>
              </a:rPr>
              <a:t>Fan</a:t>
            </a:r>
            <a:endParaRPr sz="1200" b="1" dirty="0">
              <a:solidFill>
                <a:srgbClr val="10192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43822" y="2716306"/>
            <a:ext cx="900760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Ventilation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2030" y="3192261"/>
            <a:ext cx="113680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5068481" y="3217791"/>
            <a:ext cx="500266" cy="22159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101928"/>
                </a:solidFill>
              </a:rPr>
              <a:t>Servo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9195" y="3469643"/>
            <a:ext cx="551562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Cover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75956" y="3947086"/>
            <a:ext cx="11128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4853579" y="4017978"/>
            <a:ext cx="928267" cy="22159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200" b="1" dirty="0">
                <a:solidFill>
                  <a:srgbClr val="101928"/>
                </a:solidFill>
              </a:rPr>
              <a:t>LED/Buzzer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1853" y="4230226"/>
            <a:ext cx="734048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Warning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768" y="4644120"/>
            <a:ext cx="760661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009688"/>
                </a:solidFill>
              </a:rPr>
              <a:t>Inputs</a:t>
            </a:r>
            <a:endParaRPr sz="1200" b="1" dirty="0">
              <a:solidFill>
                <a:srgbClr val="009688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74129" y="4650420"/>
            <a:ext cx="1038874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009688"/>
                </a:solidFill>
              </a:rPr>
              <a:t>Processing</a:t>
            </a:r>
            <a:endParaRPr sz="700" b="1" dirty="0">
              <a:solidFill>
                <a:srgbClr val="009688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84713" y="4658722"/>
            <a:ext cx="788325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009688"/>
                </a:solidFill>
              </a:rPr>
              <a:t>Outputs</a:t>
            </a:r>
            <a:endParaRPr sz="640" b="1" dirty="0">
              <a:solidFill>
                <a:srgbClr val="009688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36332" y="5060981"/>
            <a:ext cx="5029200" cy="1171305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3" name="TextBox 42"/>
          <p:cNvSpPr txBox="1"/>
          <p:nvPr/>
        </p:nvSpPr>
        <p:spPr>
          <a:xfrm>
            <a:off x="752596" y="5165809"/>
            <a:ext cx="502920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Data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334" y="5418186"/>
            <a:ext cx="4904474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Sensor values are filtered, classified as Fresh / Attention / Possible Spoilage, logged to MicroSD and displayed on the web dashboard.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56359" y="2118284"/>
            <a:ext cx="4315968" cy="1691393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TextBox 45"/>
          <p:cNvSpPr txBox="1"/>
          <p:nvPr/>
        </p:nvSpPr>
        <p:spPr>
          <a:xfrm>
            <a:off x="8002087" y="2246760"/>
            <a:ext cx="2709203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Upper fruit-storage section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5937" y="2622300"/>
            <a:ext cx="3773982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DHT22 and MQ-135 are placed near circulating air, away from juice and cleaning water.</a:t>
            </a:r>
          </a:p>
        </p:txBody>
      </p:sp>
      <p:sp>
        <p:nvSpPr>
          <p:cNvPr id="48" name="Oval 47"/>
          <p:cNvSpPr/>
          <p:nvPr/>
        </p:nvSpPr>
        <p:spPr>
          <a:xfrm>
            <a:off x="8482086" y="3407920"/>
            <a:ext cx="256032" cy="256032"/>
          </a:xfrm>
          <a:prstGeom prst="ellipse">
            <a:avLst/>
          </a:prstGeom>
          <a:solidFill>
            <a:srgbClr val="F9C74F"/>
          </a:solidFill>
          <a:ln>
            <a:solidFill>
              <a:srgbClr val="F9C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258051" y="3403863"/>
            <a:ext cx="256032" cy="256032"/>
          </a:xfrm>
          <a:prstGeom prst="ellipse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0" name="Oval 49"/>
          <p:cNvSpPr/>
          <p:nvPr/>
        </p:nvSpPr>
        <p:spPr>
          <a:xfrm>
            <a:off x="10034016" y="3397950"/>
            <a:ext cx="256032" cy="256032"/>
          </a:xfrm>
          <a:prstGeom prst="ellipse">
            <a:avLst/>
          </a:prstGeom>
          <a:solidFill>
            <a:srgbClr val="E84A5F"/>
          </a:solidFill>
          <a:ln>
            <a:solidFill>
              <a:srgbClr val="E84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ounded Rectangle 50"/>
          <p:cNvSpPr/>
          <p:nvPr/>
        </p:nvSpPr>
        <p:spPr>
          <a:xfrm>
            <a:off x="7111775" y="3965373"/>
            <a:ext cx="4315968" cy="14173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TextBox 51"/>
          <p:cNvSpPr txBox="1"/>
          <p:nvPr/>
        </p:nvSpPr>
        <p:spPr>
          <a:xfrm>
            <a:off x="7704288" y="4137354"/>
            <a:ext cx="3177281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Lower isolated electronics 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82697" y="4532596"/>
            <a:ext cx="3767263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ESP32 • HX711 • MicroSD • MOSFET • Power remain separated from moisture and mechanical stress.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198705" y="5473258"/>
            <a:ext cx="4315968" cy="457200"/>
          </a:xfrm>
          <a:prstGeom prst="roundRect">
            <a:avLst/>
          </a:prstGeom>
          <a:solidFill>
            <a:srgbClr val="E6F7F5"/>
          </a:solidFill>
          <a:ln w="8890">
            <a:solidFill>
              <a:srgbClr val="B9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20546" y="5598753"/>
            <a:ext cx="1458862" cy="252377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400" b="1" dirty="0">
                <a:solidFill>
                  <a:srgbClr val="101928"/>
                </a:solidFill>
              </a:rPr>
              <a:t>Safety summary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98705" y="6101450"/>
            <a:ext cx="4374724" cy="1985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50" b="1" dirty="0">
                <a:solidFill>
                  <a:srgbClr val="667085"/>
                </a:solidFill>
              </a:rPr>
              <a:t>Food-safe</a:t>
            </a:r>
            <a:r>
              <a:rPr sz="1000" b="1" dirty="0">
                <a:solidFill>
                  <a:srgbClr val="667085"/>
                </a:solidFill>
              </a:rPr>
              <a:t> separation • low-voltage DC operation • protected fan guard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597526" y="394157"/>
            <a:ext cx="8460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01928"/>
                </a:solidFill>
              </a:rPr>
              <a:t>Implementation Methodology and Operation</a:t>
            </a:r>
          </a:p>
        </p:txBody>
      </p:sp>
      <p:sp>
        <p:nvSpPr>
          <p:cNvPr id="5" name="Text 3"/>
          <p:cNvSpPr/>
          <p:nvPr/>
        </p:nvSpPr>
        <p:spPr>
          <a:xfrm>
            <a:off x="597526" y="1030213"/>
            <a:ext cx="1118130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1600" b="1" dirty="0" err="1">
                <a:solidFill>
                  <a:srgbClr val="6D727C"/>
                </a:solidFill>
              </a:rPr>
              <a:t>FreshGuard</a:t>
            </a:r>
            <a:r>
              <a:rPr lang="en-US" sz="1600" b="1" dirty="0">
                <a:solidFill>
                  <a:srgbClr val="6D727C"/>
                </a:solidFill>
              </a:rPr>
              <a:t> follows a simple cycle: Sense → Filter → Decide → Act → Log → Display. </a:t>
            </a:r>
          </a:p>
        </p:txBody>
      </p:sp>
      <p:sp>
        <p:nvSpPr>
          <p:cNvPr id="6" name="Shape 4"/>
          <p:cNvSpPr/>
          <p:nvPr/>
        </p:nvSpPr>
        <p:spPr>
          <a:xfrm>
            <a:off x="652698" y="1906686"/>
            <a:ext cx="3154680" cy="1699749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40080" y="1899405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833971" y="2112937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33971" y="2105015"/>
            <a:ext cx="642647" cy="1897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0084" y="2352758"/>
            <a:ext cx="822960" cy="2537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/>
              <a:t>Sense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8671" y="2558522"/>
            <a:ext cx="2782734" cy="9388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rgbClr val="667085"/>
                </a:solidFill>
              </a:rPr>
              <a:t>Read temperature, humidity, gas/VOC, and weight data at scheduled intervals.</a:t>
            </a:r>
          </a:p>
        </p:txBody>
      </p:sp>
      <p:sp>
        <p:nvSpPr>
          <p:cNvPr id="12" name="Shape 10"/>
          <p:cNvSpPr/>
          <p:nvPr/>
        </p:nvSpPr>
        <p:spPr>
          <a:xfrm>
            <a:off x="4359773" y="1879533"/>
            <a:ext cx="3154680" cy="1726901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59773" y="1892685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37647" y="213099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26217" y="2152861"/>
            <a:ext cx="621792" cy="1574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688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09260" y="2388561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928"/>
                </a:solidFill>
              </a:rPr>
              <a:t>Filter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3316" y="2407434"/>
            <a:ext cx="3047594" cy="121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7085"/>
                </a:solidFill>
              </a:rPr>
              <a:t>Reject invalid values and apply moving-average smoothing to suppress noise.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59105" y="1970234"/>
            <a:ext cx="3154680" cy="1636200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159105" y="1970234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49406" y="2141591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49406" y="2126498"/>
            <a:ext cx="6191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PHASE</a:t>
            </a:r>
            <a:r>
              <a:rPr lang="en-US" sz="1050" b="1" dirty="0">
                <a:solidFill>
                  <a:srgbClr val="009688"/>
                </a:solidFill>
              </a:rPr>
              <a:t> 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42669" y="2404227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928"/>
                </a:solidFill>
              </a:rPr>
              <a:t>Decide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47888" y="2522232"/>
            <a:ext cx="2944368" cy="10195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0" dirty="0">
                <a:solidFill>
                  <a:srgbClr val="667085"/>
                </a:solidFill>
              </a:rPr>
              <a:t>Classify condition as Fresh, Attention or Possible Spoilage using sustained readings.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8385" y="4275383"/>
            <a:ext cx="3154680" cy="1699749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19418" y="4283619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96423" y="4544784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86873" y="4561926"/>
            <a:ext cx="66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PHASE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743814" y="482149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928"/>
                </a:solidFill>
              </a:rPr>
              <a:t>Execute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7352" y="4894644"/>
            <a:ext cx="3154679" cy="9980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600" dirty="0">
                <a:solidFill>
                  <a:srgbClr val="667085"/>
                </a:solidFill>
              </a:rPr>
              <a:t>Control the fan, automated cover, RGB LED, and buzzer according to the detected state.</a:t>
            </a:r>
          </a:p>
        </p:txBody>
      </p:sp>
      <p:sp>
        <p:nvSpPr>
          <p:cNvPr id="30" name="Shape 28"/>
          <p:cNvSpPr/>
          <p:nvPr/>
        </p:nvSpPr>
        <p:spPr>
          <a:xfrm>
            <a:off x="4343400" y="4317602"/>
            <a:ext cx="3154680" cy="1699749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343400" y="4295372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626216" y="4579450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606565" y="4586829"/>
            <a:ext cx="661095" cy="1937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09688"/>
                </a:solidFill>
              </a:rPr>
              <a:t>PHASE</a:t>
            </a:r>
            <a:r>
              <a:rPr lang="en-US" sz="1050" b="1" dirty="0">
                <a:solidFill>
                  <a:srgbClr val="009688"/>
                </a:solidFill>
              </a:rPr>
              <a:t> </a:t>
            </a:r>
            <a:r>
              <a:rPr lang="en-US" sz="1200" b="1" dirty="0">
                <a:solidFill>
                  <a:srgbClr val="009688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09260" y="484181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928"/>
                </a:solidFill>
              </a:rPr>
              <a:t>Log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78357" y="4885160"/>
            <a:ext cx="3117510" cy="105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0" dirty="0">
                <a:solidFill>
                  <a:srgbClr val="667085"/>
                </a:solidFill>
              </a:rPr>
              <a:t>Save readings, state changes, fan/servo activity and alerts to MicroSD.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45398" y="4279334"/>
            <a:ext cx="3154680" cy="1695798"/>
          </a:xfrm>
          <a:prstGeom prst="roundRect">
            <a:avLst>
              <a:gd name="adj" fmla="val 5833"/>
            </a:avLst>
          </a:prstGeom>
          <a:solidFill>
            <a:srgbClr val="FAFBFC"/>
          </a:solidFill>
          <a:ln w="6985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8238570" y="4287211"/>
            <a:ext cx="3154680" cy="41148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529271" y="4561926"/>
            <a:ext cx="621792" cy="201168"/>
          </a:xfrm>
          <a:prstGeom prst="roundRect">
            <a:avLst>
              <a:gd name="adj" fmla="val 27273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511841" y="4569278"/>
            <a:ext cx="65665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9688"/>
                </a:solidFill>
              </a:rPr>
              <a:t>PHASE 6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404430" y="482541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/>
              <a:t>Display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307218" y="4763095"/>
            <a:ext cx="3065897" cy="125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0" dirty="0">
                <a:solidFill>
                  <a:srgbClr val="667085"/>
                </a:solidFill>
              </a:rPr>
              <a:t>Update web dashboard with live values, state label and control response.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5379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AA4B2"/>
                </a:solidFill>
              </a:rPr>
              <a:t>FreshGuard Project Proposal • Group 13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341439" y="326898"/>
            <a:ext cx="80029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sz="3000" b="1" dirty="0">
                <a:solidFill>
                  <a:srgbClr val="101928"/>
                </a:solidFill>
              </a:rPr>
              <a:t>Budget, Project Plan and Expected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4308" y="772220"/>
            <a:ext cx="90648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600" b="1" dirty="0">
                <a:solidFill>
                  <a:srgbClr val="667085"/>
                </a:solidFill>
              </a:rPr>
              <a:t>A compact delivery plan showing cost control, build milestones, and final demo evidence.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594360" y="3224784"/>
            <a:ext cx="1325880" cy="329184"/>
          </a:xfrm>
          <a:prstGeom prst="rect">
            <a:avLst/>
          </a:prstGeom>
          <a:solidFill>
            <a:srgbClr val="F7FAFC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58" y="33101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1928"/>
                </a:solidFill>
              </a:rPr>
              <a:t>Period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920240" y="3224784"/>
            <a:ext cx="4709160" cy="329184"/>
          </a:xfrm>
          <a:prstGeom prst="rect">
            <a:avLst/>
          </a:prstGeom>
          <a:solidFill>
            <a:srgbClr val="F7FAFC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975104" y="3335927"/>
            <a:ext cx="4599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8"/>
                </a:solidFill>
              </a:rPr>
              <a:t>Primary Focus &amp; Goals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3224784"/>
            <a:ext cx="2834640" cy="329184"/>
          </a:xfrm>
          <a:prstGeom prst="rect">
            <a:avLst/>
          </a:prstGeom>
          <a:solidFill>
            <a:srgbClr val="F7FAFC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684264" y="3335927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8"/>
                </a:solidFill>
              </a:rPr>
              <a:t>Milestone Deliverable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464040" y="3224784"/>
            <a:ext cx="2103120" cy="329184"/>
          </a:xfrm>
          <a:prstGeom prst="rect">
            <a:avLst/>
          </a:prstGeom>
          <a:solidFill>
            <a:srgbClr val="F7FAFC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518904" y="3335927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1928"/>
                </a:solidFill>
              </a:rPr>
              <a:t>Team Participation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601103"/>
            <a:ext cx="13258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9224" y="3665111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928"/>
                </a:solidFill>
              </a:rPr>
              <a:t>Weeks 1–3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3601103"/>
            <a:ext cx="47091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1975104" y="3665111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Research, problem analysis, proposal document, and presentation preparation.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29400" y="3601103"/>
            <a:ext cx="2834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84264" y="3665111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Approved proposal package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464040" y="3601103"/>
            <a:ext cx="21031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9518904" y="3665111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688"/>
                </a:solidFill>
              </a:rPr>
              <a:t>All members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" y="4113167"/>
            <a:ext cx="132588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9224" y="4177175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928"/>
                </a:solidFill>
              </a:rPr>
              <a:t>Weeks 4–6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920240" y="4113167"/>
            <a:ext cx="470916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1975104" y="4177175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Hardware sourcing, breadboard testing, sensor calibration, and circuit validation.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29400" y="4113167"/>
            <a:ext cx="283464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684264" y="4177175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Functional sensor modules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64040" y="4113167"/>
            <a:ext cx="210312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39" name="Text 37"/>
          <p:cNvSpPr/>
          <p:nvPr/>
        </p:nvSpPr>
        <p:spPr>
          <a:xfrm>
            <a:off x="9518904" y="4177175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688"/>
                </a:solidFill>
              </a:rPr>
              <a:t>Hardware + software teams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94360" y="4625231"/>
            <a:ext cx="13258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9224" y="4689239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928"/>
                </a:solidFill>
              </a:rPr>
              <a:t>Weeks 7–8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20240" y="4625231"/>
            <a:ext cx="47091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1975104" y="4689239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ESP32 firmware, MicroSD logging, dashboard endpoints, and state logic.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4625231"/>
            <a:ext cx="2834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6684264" y="4689239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Progress presentation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464040" y="4625231"/>
            <a:ext cx="21031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9518904" y="4689239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688"/>
                </a:solidFill>
              </a:rPr>
              <a:t>Software + IoT team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94360" y="5137295"/>
            <a:ext cx="132588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9224" y="5201303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928"/>
                </a:solidFill>
              </a:rPr>
              <a:t>Weeks 9–10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20240" y="5137295"/>
            <a:ext cx="470916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1975104" y="5201303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Enclosure construction, load-cell mounting, airflow path, and full integration.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629400" y="5137295"/>
            <a:ext cx="283464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6684264" y="5201303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Completed physical prototype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464040" y="5137295"/>
            <a:ext cx="2103120" cy="512064"/>
          </a:xfrm>
          <a:prstGeom prst="rect">
            <a:avLst/>
          </a:prstGeom>
          <a:solidFill>
            <a:srgbClr val="FBFCFD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518904" y="5201303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688"/>
                </a:solidFill>
              </a:rPr>
              <a:t>Entire group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94360" y="5649359"/>
            <a:ext cx="132588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49224" y="5713367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928"/>
                </a:solidFill>
              </a:rPr>
              <a:t>Weeks 11–12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920240" y="5649359"/>
            <a:ext cx="470916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75104" y="5713367"/>
            <a:ext cx="4599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Controlled evaluation, tuning, documentation, and final live demonstration.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629400" y="5649359"/>
            <a:ext cx="2834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684264" y="5713367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Final assessment demo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464040" y="5649359"/>
            <a:ext cx="210312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DE5EA"/>
            </a:solidFill>
            <a:prstDash val="solid"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63" name="Text 61"/>
          <p:cNvSpPr/>
          <p:nvPr/>
        </p:nvSpPr>
        <p:spPr>
          <a:xfrm>
            <a:off x="9518904" y="5713367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09688"/>
                </a:solidFill>
              </a:rPr>
              <a:t>All members</a:t>
            </a:r>
            <a:endParaRPr lang="en-US" sz="1400" dirty="0"/>
          </a:p>
        </p:txBody>
      </p:sp>
      <p:sp>
        <p:nvSpPr>
          <p:cNvPr id="64" name="Rounded Rectangle 63"/>
          <p:cNvSpPr/>
          <p:nvPr/>
        </p:nvSpPr>
        <p:spPr>
          <a:xfrm>
            <a:off x="594358" y="1634713"/>
            <a:ext cx="3108960" cy="1179535"/>
          </a:xfrm>
          <a:prstGeom prst="roundRect">
            <a:avLst/>
          </a:prstGeom>
          <a:solidFill>
            <a:srgbClr val="E6F7F5"/>
          </a:solidFill>
          <a:ln w="8890">
            <a:solidFill>
              <a:srgbClr val="B9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5" name="TextBox 64"/>
          <p:cNvSpPr txBox="1"/>
          <p:nvPr/>
        </p:nvSpPr>
        <p:spPr>
          <a:xfrm>
            <a:off x="1364904" y="1712386"/>
            <a:ext cx="1567866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Estimated </a:t>
            </a:r>
            <a:r>
              <a:rPr lang="en-US" sz="1600" b="1" dirty="0">
                <a:solidFill>
                  <a:srgbClr val="101928"/>
                </a:solidFill>
              </a:rPr>
              <a:t>Cost</a:t>
            </a:r>
            <a:endParaRPr sz="1600" b="1" dirty="0">
              <a:solidFill>
                <a:srgbClr val="101928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50743" y="2068275"/>
            <a:ext cx="2596189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Rs. </a:t>
            </a:r>
            <a:r>
              <a:rPr lang="en-US" sz="1400" b="0" dirty="0">
                <a:solidFill>
                  <a:srgbClr val="667085"/>
                </a:solidFill>
              </a:rPr>
              <a:t>8000</a:t>
            </a:r>
            <a:r>
              <a:rPr sz="1400" b="0" dirty="0">
                <a:solidFill>
                  <a:srgbClr val="667085"/>
                </a:solidFill>
              </a:rPr>
              <a:t> for main electronics and prototype power.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74820" y="1637890"/>
            <a:ext cx="3108960" cy="117635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8" name="Rectangle 67"/>
          <p:cNvSpPr/>
          <p:nvPr/>
        </p:nvSpPr>
        <p:spPr>
          <a:xfrm>
            <a:off x="4274820" y="1501064"/>
            <a:ext cx="310896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07987" y="1679448"/>
            <a:ext cx="1842623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600" b="1" dirty="0">
                <a:solidFill>
                  <a:srgbClr val="101928"/>
                </a:solidFill>
              </a:rPr>
              <a:t>Expected Result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25451" y="2012938"/>
            <a:ext cx="2807696" cy="4678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</a:rPr>
              <a:t>Prototype senses, decides, responds, logs and displays data.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86795" y="1668500"/>
            <a:ext cx="3323711" cy="1145747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D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2" name="Rectangle 71"/>
          <p:cNvSpPr/>
          <p:nvPr/>
        </p:nvSpPr>
        <p:spPr>
          <a:xfrm>
            <a:off x="7686796" y="1500150"/>
            <a:ext cx="3323710" cy="55777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14998" y="1707952"/>
            <a:ext cx="1898084" cy="28315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en-US" sz="1600" b="1" dirty="0"/>
              <a:t>Evaluation Method</a:t>
            </a:r>
            <a:endParaRPr sz="1600" b="1" dirty="0">
              <a:solidFill>
                <a:srgbClr val="101928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686796" y="1966993"/>
            <a:ext cx="3229443" cy="68326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lang="en-US" sz="1400" dirty="0">
                <a:solidFill>
                  <a:srgbClr val="838B9C"/>
                </a:solidFill>
              </a:rPr>
              <a:t>Test sensor accuracy, actuator response, MicroSD logging, dashboard updates, and system recovery.</a:t>
            </a:r>
            <a:endParaRPr sz="1400" b="0" dirty="0">
              <a:solidFill>
                <a:srgbClr val="838B9C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97F18A-7934-7BA7-AE3E-F22B26313C9E}"/>
              </a:ext>
            </a:extLst>
          </p:cNvPr>
          <p:cNvSpPr/>
          <p:nvPr/>
        </p:nvSpPr>
        <p:spPr>
          <a:xfrm>
            <a:off x="594358" y="1506657"/>
            <a:ext cx="3108960" cy="54864"/>
          </a:xfrm>
          <a:prstGeom prst="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2331720"/>
            <a:ext cx="121916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Questions &amp; Discussion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13656" y="2926080"/>
            <a:ext cx="996234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1DC"/>
                </a:solidFill>
              </a:rPr>
              <a:t>FreshGuard introduces entry-level automated food care through sensing, local actuation, data storage, and web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-170330" y="3448027"/>
            <a:ext cx="121916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99D"/>
                </a:solidFill>
              </a:rPr>
              <a:t>Group 13 • SLIIT Year 1, Semester 1 • IT1140 – Fundamentals of Computing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87952" y="3822192"/>
            <a:ext cx="3794760" cy="0"/>
          </a:xfrm>
          <a:prstGeom prst="line">
            <a:avLst/>
          </a:prstGeom>
          <a:noFill/>
          <a:ln w="10160">
            <a:solidFill>
              <a:srgbClr val="162A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00200" y="4096512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97A4B8"/>
                </a:solidFill>
              </a:rPr>
              <a:t>KULATHUNGA M.A.S.S. • VINOJA H.W.O. • SUBHASHANA T.O.• PERERA M.K.J.C. • SITHUMINI W.T.I. • DAMAYANTHA H.A.E.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6473952"/>
            <a:ext cx="4572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" dirty="0">
                <a:solidFill>
                  <a:srgbClr val="62728A"/>
                </a:solidFill>
              </a:rPr>
              <a:t>SLIIT BSC (HONS) IN INFORMATION TECHNOLOGY • IT1140</a:t>
            </a:r>
            <a:endParaRPr lang="en-US" sz="46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2308</TotalTime>
  <Words>1160</Words>
  <Application>Microsoft Office PowerPoint</Application>
  <PresentationFormat>Widescreen</PresentationFormat>
  <Paragraphs>159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Sri Lanka Institute of Information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FreshGuard: IoT-Based Smart Fruit Bowl</dc:title>
  <dc:subject>FreshGuard IoT Project Proposal</dc:subject>
  <dc:creator>OpenAI</dc:creator>
  <cp:lastModifiedBy>Sadew Kulathunga</cp:lastModifiedBy>
  <cp:revision>43</cp:revision>
  <dcterms:created xsi:type="dcterms:W3CDTF">2026-07-20T14:18:54Z</dcterms:created>
  <dcterms:modified xsi:type="dcterms:W3CDTF">2026-07-27T08:37:45Z</dcterms:modified>
</cp:coreProperties>
</file>